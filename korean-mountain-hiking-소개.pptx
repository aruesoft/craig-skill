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0E9E6E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CLAUDE AGENT SKILL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31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 이름 하나로 코스 · 날씨 · 하산식을 한 번에 답한다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C4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korean-mountain-hiking — 산림청 선정 100대 명산 데이터를 기반으로 등산 코스·기상청 산악날씨·하산식 맛집을 단일 스킬에서 제공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5358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9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2852928"/>
            <a:ext cx="2490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C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수록 명산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03956" y="2395728"/>
            <a:ext cx="0" cy="694944"/>
          </a:xfrm>
          <a:prstGeom prst="line">
            <a:avLst/>
          </a:prstGeom>
          <a:noFill/>
          <a:ln w="12700">
            <a:solidFill>
              <a:srgbClr val="E2E8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31972" y="2286000"/>
            <a:ext cx="25358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9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50260" y="2852928"/>
            <a:ext cx="2490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C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산악날씨 지점 (mtId)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95848" y="2395728"/>
            <a:ext cx="0" cy="694944"/>
          </a:xfrm>
          <a:prstGeom prst="line">
            <a:avLst/>
          </a:prstGeom>
          <a:noFill/>
          <a:ln w="12700">
            <a:solidFill>
              <a:srgbClr val="E2E8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23864" y="2286000"/>
            <a:ext cx="25358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9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19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42152" y="2852928"/>
            <a:ext cx="2490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C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코스 상세 데이터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87739" y="2395728"/>
            <a:ext cx="0" cy="694944"/>
          </a:xfrm>
          <a:prstGeom prst="line">
            <a:avLst/>
          </a:prstGeom>
          <a:noFill/>
          <a:ln w="12700">
            <a:solidFill>
              <a:srgbClr val="E2E8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15755" y="2286000"/>
            <a:ext cx="25358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9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3.5+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034043" y="2852928"/>
            <a:ext cx="2490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C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맛집 평점 필터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25358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  <a:effectLst>
            <a:outerShdw sx="100000" sy="100000" kx="0" ky="0" algn="bl" rotWithShape="0" blurRad="88900" dist="38100" dir="8100000">
              <a:srgbClr val="16231D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611880"/>
            <a:ext cx="64008" cy="2468880"/>
          </a:xfrm>
          <a:prstGeom prst="rect">
            <a:avLst/>
          </a:prstGeom>
          <a:solidFill>
            <a:srgbClr val="0E9E6E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3941064"/>
            <a:ext cx="457200" cy="4572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2261540" y="39044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2E8E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50976" y="4581144"/>
            <a:ext cx="1987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31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100대 명산 데이터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50976" y="5056632"/>
            <a:ext cx="19689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C4C4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산림청 선정 100곳 전체 — 높이·위치·대표 코스와 100대 명산 순번 수록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431972" y="3611880"/>
            <a:ext cx="25358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  <a:effectLst>
            <a:outerShdw sx="100000" sy="100000" kx="0" ky="0" algn="bl" rotWithShape="0" blurRad="88900" dist="38100" dir="8100000">
              <a:srgbClr val="16231D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431972" y="3611880"/>
            <a:ext cx="64008" cy="2468880"/>
          </a:xfrm>
          <a:prstGeom prst="rect">
            <a:avLst/>
          </a:prstGeom>
          <a:solidFill>
            <a:srgbClr val="0E9E6E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868" y="3941064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053432" y="39044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2E8E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3742868" y="4581144"/>
            <a:ext cx="1987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31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기상청 산악날씨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3742868" y="5056632"/>
            <a:ext cx="19689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C4C4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mtId 기반 5일·3시간 간격 예보, 없는 산은 단기예보로 자동 fallback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6223864" y="3611880"/>
            <a:ext cx="25358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  <a:effectLst>
            <a:outerShdw sx="100000" sy="100000" kx="0" ky="0" algn="bl" rotWithShape="0" blurRad="88900" dist="38100" dir="8100000">
              <a:srgbClr val="16231D">
                <a:alpha val="1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223864" y="3611880"/>
            <a:ext cx="64008" cy="2468880"/>
          </a:xfrm>
          <a:prstGeom prst="rect">
            <a:avLst/>
          </a:prstGeom>
          <a:solidFill>
            <a:srgbClr val="0E9E6E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760" y="3941064"/>
            <a:ext cx="457200" cy="45720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845323" y="39044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2E8E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6534760" y="4581144"/>
            <a:ext cx="1987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31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하산식 맛집</a:t>
            </a: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6534760" y="5056632"/>
            <a:ext cx="19689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C4C4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하산 지점 근처 식당을 카카오맵 평점 3.5+·리뷰순으로 추천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9015755" y="3611880"/>
            <a:ext cx="25358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  <a:effectLst>
            <a:outerShdw sx="100000" sy="100000" kx="0" ky="0" algn="bl" rotWithShape="0" blurRad="88900" dist="38100" dir="8100000">
              <a:srgbClr val="16231D">
                <a:alpha val="1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9015755" y="3611880"/>
            <a:ext cx="64008" cy="2468880"/>
          </a:xfrm>
          <a:prstGeom prst="rect">
            <a:avLst/>
          </a:prstGeom>
          <a:solidFill>
            <a:srgbClr val="0E9E6E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651" y="3941064"/>
            <a:ext cx="457200" cy="45720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10637215" y="39044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2E8E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1500" dirty="0"/>
          </a:p>
        </p:txBody>
      </p:sp>
      <p:sp>
        <p:nvSpPr>
          <p:cNvPr id="39" name="Text 33"/>
          <p:cNvSpPr/>
          <p:nvPr/>
        </p:nvSpPr>
        <p:spPr>
          <a:xfrm>
            <a:off x="9326651" y="4581144"/>
            <a:ext cx="1987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31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 확장</a:t>
            </a:r>
            <a:endParaRPr lang="en-US" sz="1600" dirty="0"/>
          </a:p>
        </p:txBody>
      </p:sp>
      <p:sp>
        <p:nvSpPr>
          <p:cNvPr id="40" name="Text 34"/>
          <p:cNvSpPr/>
          <p:nvPr/>
        </p:nvSpPr>
        <p:spPr>
          <a:xfrm>
            <a:off x="9326651" y="5056632"/>
            <a:ext cx="19689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C4C4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데이터셋에 없는 산은 산림청·네이버 카페·웹 검색으로 보완·저장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E2E8E4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출처: 산림청 100대 명산 eBook · 국립공원공단 · 기상청 산악날씨 API · 카카오맵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9722815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9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pPr algn="r" indent="0" marL="0">
              <a:buNone/>
            </a:pPr>
            <a:r>
              <a:rPr lang="en-US" sz="900" dirty="0">
                <a:solidFill>
                  <a:srgbClr val="7E8C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/  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0E9E6E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PRODUCT EVOLUTION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31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단순 조회에서 신뢰도 · 맛집 · 텔레그램까지 4단계로 진화했다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C4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각 단계는 앞 단계 위에 쌓인다 — 데이터로 시작해 신뢰도를 더하고, 맛집으로 경험을 넓힌 뒤, 텔레그램으로 접점을 확장했다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2384984" cy="3383280"/>
          </a:xfrm>
          <a:prstGeom prst="rect">
            <a:avLst/>
          </a:prstGeom>
          <a:solidFill>
            <a:srgbClr val="EBF6F0"/>
          </a:solidFill>
          <a:ln w="12700">
            <a:solidFill>
              <a:srgbClr val="E2E8E4"/>
            </a:solidFill>
            <a:prstDash val="solid"/>
          </a:ln>
          <a:effectLst>
            <a:outerShdw sx="100000" sy="100000" kx="0" ky="0" algn="bl" rotWithShape="0" blurRad="88900" dist="38100" dir="8100000">
              <a:srgbClr val="16231D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514600"/>
            <a:ext cx="2384984" cy="82296"/>
          </a:xfrm>
          <a:prstGeom prst="rect">
            <a:avLst/>
          </a:prstGeom>
          <a:solidFill>
            <a:srgbClr val="0E9E6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825496"/>
            <a:ext cx="1836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A6B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STAGE 01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227832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3886200"/>
            <a:ext cx="1882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31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코스 &amp; 날씨 조회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4636008"/>
            <a:ext cx="1854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C4C4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100대 명산 코스(거리·소요·난이도)와 기상청 산악날씨 5일 예보 제공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792" y="4142232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82264" y="2514600"/>
            <a:ext cx="2384984" cy="3383280"/>
          </a:xfrm>
          <a:prstGeom prst="rect">
            <a:avLst/>
          </a:prstGeom>
          <a:solidFill>
            <a:srgbClr val="CBEADC"/>
          </a:solidFill>
          <a:ln w="12700">
            <a:solidFill>
              <a:srgbClr val="E2E8E4"/>
            </a:solidFill>
            <a:prstDash val="solid"/>
          </a:ln>
          <a:effectLst>
            <a:outerShdw sx="100000" sy="100000" kx="0" ky="0" algn="bl" rotWithShape="0" blurRad="88900" dist="38100" dir="8100000">
              <a:srgbClr val="16231D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82264" y="2514600"/>
            <a:ext cx="2384984" cy="82296"/>
          </a:xfrm>
          <a:prstGeom prst="rect">
            <a:avLst/>
          </a:prstGeom>
          <a:solidFill>
            <a:srgbClr val="0E9E6E"/>
          </a:solidFill>
          <a:ln/>
        </p:spPr>
      </p:sp>
      <p:sp>
        <p:nvSpPr>
          <p:cNvPr id="15" name="Text 11"/>
          <p:cNvSpPr/>
          <p:nvPr/>
        </p:nvSpPr>
        <p:spPr>
          <a:xfrm>
            <a:off x="3756584" y="2825496"/>
            <a:ext cx="1836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A6B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STAGE 02</a:t>
            </a:r>
            <a:endParaRPr lang="en-US" sz="10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584" y="3227832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56584" y="3886200"/>
            <a:ext cx="1882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31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신뢰도 업데이트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3756584" y="4636008"/>
            <a:ext cx="1854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C4C4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네이버 카페 실제 후기 우선 참조 + 공식 출처 명시로 정보 신뢰도 강화</a:t>
            </a:r>
            <a:endParaRPr lang="en-US" sz="12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976" y="4142232"/>
            <a:ext cx="237744" cy="23774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324448" y="2514600"/>
            <a:ext cx="2384984" cy="3383280"/>
          </a:xfrm>
          <a:prstGeom prst="rect">
            <a:avLst/>
          </a:prstGeom>
          <a:solidFill>
            <a:srgbClr val="6FC6A2"/>
          </a:solidFill>
          <a:ln w="12700">
            <a:solidFill>
              <a:srgbClr val="E2E8E4"/>
            </a:solidFill>
            <a:prstDash val="solid"/>
          </a:ln>
          <a:effectLst>
            <a:outerShdw sx="100000" sy="100000" kx="0" ky="0" algn="bl" rotWithShape="0" blurRad="88900" dist="38100" dir="8100000">
              <a:srgbClr val="16231D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324448" y="2514600"/>
            <a:ext cx="2384984" cy="82296"/>
          </a:xfrm>
          <a:prstGeom prst="rect">
            <a:avLst/>
          </a:prstGeom>
          <a:solidFill>
            <a:srgbClr val="0E9E6E"/>
          </a:solidFill>
          <a:ln/>
        </p:spPr>
      </p:sp>
      <p:sp>
        <p:nvSpPr>
          <p:cNvPr id="22" name="Text 16"/>
          <p:cNvSpPr/>
          <p:nvPr/>
        </p:nvSpPr>
        <p:spPr>
          <a:xfrm>
            <a:off x="6598768" y="2825496"/>
            <a:ext cx="1836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A6B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STAGE 03</a:t>
            </a:r>
            <a:endParaRPr lang="en-US" sz="10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768" y="3227832"/>
            <a:ext cx="475488" cy="4754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598768" y="3886200"/>
            <a:ext cx="1882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31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맛집 정보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6598768" y="4636008"/>
            <a:ext cx="1854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337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하산식 식당을 카카오맵 평점 3.5+·리뷰순으로 필터링해 추천</a:t>
            </a:r>
            <a:endParaRPr lang="en-US" sz="12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9159" y="4142232"/>
            <a:ext cx="237744" cy="237744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9166631" y="2514600"/>
            <a:ext cx="2384984" cy="3383280"/>
          </a:xfrm>
          <a:prstGeom prst="rect">
            <a:avLst/>
          </a:prstGeom>
          <a:solidFill>
            <a:srgbClr val="0E9E6E"/>
          </a:solidFill>
          <a:ln w="12700">
            <a:solidFill>
              <a:srgbClr val="0E9E6E"/>
            </a:solidFill>
            <a:prstDash val="solid"/>
          </a:ln>
          <a:effectLst>
            <a:outerShdw sx="100000" sy="100000" kx="0" ky="0" algn="bl" rotWithShape="0" blurRad="88900" dist="38100" dir="8100000">
              <a:srgbClr val="16231D">
                <a:alpha val="10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9166631" y="2514600"/>
            <a:ext cx="2384984" cy="82296"/>
          </a:xfrm>
          <a:prstGeom prst="rect">
            <a:avLst/>
          </a:prstGeom>
          <a:solidFill>
            <a:srgbClr val="0E9E6E"/>
          </a:solidFill>
          <a:ln/>
        </p:spPr>
      </p:sp>
      <p:sp>
        <p:nvSpPr>
          <p:cNvPr id="29" name="Text 21"/>
          <p:cNvSpPr/>
          <p:nvPr/>
        </p:nvSpPr>
        <p:spPr>
          <a:xfrm>
            <a:off x="9440951" y="2825496"/>
            <a:ext cx="1836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DF0D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STAGE 04</a:t>
            </a:r>
            <a:endParaRPr lang="en-US" sz="105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0951" y="3227832"/>
            <a:ext cx="475488" cy="47548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440951" y="3886200"/>
            <a:ext cx="1882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텔레그램 이용</a:t>
            </a:r>
            <a:endParaRPr lang="en-US" sz="1800" dirty="0"/>
          </a:p>
        </p:txBody>
      </p:sp>
      <p:sp>
        <p:nvSpPr>
          <p:cNvPr id="32" name="Text 23"/>
          <p:cNvSpPr/>
          <p:nvPr/>
        </p:nvSpPr>
        <p:spPr>
          <a:xfrm>
            <a:off x="9440951" y="4636008"/>
            <a:ext cx="1854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DF3E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없이 순수 파이썬 봇으로 산 이름만 보내면 즉시 응답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E2E8E4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진화 순서: 코스·날씨 → 신뢰도(카페 후기·출처) → 하산식 맛집(평점 필터) → 텔레그램 봇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9722815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9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pPr algn="r" indent="0" marL="0">
              <a:buNone/>
            </a:pPr>
            <a:r>
              <a:rPr lang="en-US" sz="900" dirty="0">
                <a:solidFill>
                  <a:srgbClr val="7E8C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/ 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0E9E6E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DELIVERY CHANNEL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31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텔레그램에 산 이름만 보내면 봇이 즉시 답한다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C4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스킬 데이터를 그대로 공유하는 순수 파이썬 봇 — Claude 세션 밖에서도 상시 조회 가능한 접점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423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2441448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1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korean-mountain-hiking-bot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100584" cy="100584"/>
          </a:xfrm>
          <a:prstGeom prst="rect">
            <a:avLst/>
          </a:prstGeom>
          <a:solidFill>
            <a:srgbClr val="0E9E6E"/>
          </a:solidFill>
          <a:ln/>
        </p:spPr>
      </p:sp>
      <p:sp>
        <p:nvSpPr>
          <p:cNvPr id="9" name="Text 6"/>
          <p:cNvSpPr/>
          <p:nvPr/>
        </p:nvSpPr>
        <p:spPr>
          <a:xfrm>
            <a:off x="896112" y="3191256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1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순수 파이썬 · 의존성 requests 하나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96112" y="3483864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C4C4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불필요 — 스킬의 mountains.json을 그대로 읽어 응답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4187952"/>
            <a:ext cx="100584" cy="100584"/>
          </a:xfrm>
          <a:prstGeom prst="rect">
            <a:avLst/>
          </a:prstGeom>
          <a:solidFill>
            <a:srgbClr val="0E9E6E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4087368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1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 이름 → 코스 · 높이 · 100대 명산 순번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96112" y="4379976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C4C4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 이름 + 날짜 → 산악날씨(mtId 20곳) 또는 단기예보 fallback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5084064"/>
            <a:ext cx="100584" cy="100584"/>
          </a:xfrm>
          <a:prstGeom prst="rect">
            <a:avLst/>
          </a:prstGeom>
          <a:solidFill>
            <a:srgbClr val="0E9E6E"/>
          </a:solidFill>
          <a:ln/>
        </p:spPr>
      </p:sp>
      <p:sp>
        <p:nvSpPr>
          <p:cNvPr id="15" name="Text 12"/>
          <p:cNvSpPr/>
          <p:nvPr/>
        </p:nvSpPr>
        <p:spPr>
          <a:xfrm>
            <a:off x="896112" y="4983480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1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상시 대기 · 예약 실행 · 데몬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96112" y="5276088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C4C4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--listen(즉시 응답) · --once(cron) · launchd(KeepAlive)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5980176"/>
            <a:ext cx="100584" cy="100584"/>
          </a:xfrm>
          <a:prstGeom prst="rect">
            <a:avLst/>
          </a:prstGeom>
          <a:solidFill>
            <a:srgbClr val="0E9E6E"/>
          </a:solidFill>
          <a:ln/>
        </p:spPr>
      </p:sp>
      <p:sp>
        <p:nvSpPr>
          <p:cNvPr id="18" name="Text 15"/>
          <p:cNvSpPr/>
          <p:nvPr/>
        </p:nvSpPr>
        <p:spPr>
          <a:xfrm>
            <a:off x="896112" y="5879592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1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범위 밖 날짜는 지어내지 않음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96112" y="6172200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C4C4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기상청 산악날씨 페이지 링크로 안내 — 데이터 정직성 유지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623560" y="2331720"/>
            <a:ext cx="5928055" cy="3703320"/>
          </a:xfrm>
          <a:prstGeom prst="rect">
            <a:avLst/>
          </a:prstGeom>
          <a:solidFill>
            <a:srgbClr val="0D1713"/>
          </a:solidFill>
          <a:ln/>
          <a:effectLst>
            <a:outerShdw sx="100000" sy="100000" kx="0" ky="0" algn="bl" rotWithShape="0" blurRad="177800" dist="63500" dir="8100000">
              <a:srgbClr val="0A130F">
                <a:alpha val="2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623560" y="2331720"/>
            <a:ext cx="5928055" cy="457200"/>
          </a:xfrm>
          <a:prstGeom prst="rect">
            <a:avLst/>
          </a:prstGeom>
          <a:solidFill>
            <a:srgbClr val="16241D"/>
          </a:solidFill>
          <a:ln/>
        </p:spPr>
      </p:sp>
      <p:sp>
        <p:nvSpPr>
          <p:cNvPr id="22" name="Shape 19"/>
          <p:cNvSpPr/>
          <p:nvPr/>
        </p:nvSpPr>
        <p:spPr>
          <a:xfrm>
            <a:off x="5879592" y="249631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20"/>
          <p:cNvSpPr/>
          <p:nvPr/>
        </p:nvSpPr>
        <p:spPr>
          <a:xfrm>
            <a:off x="6135624" y="249631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21"/>
          <p:cNvSpPr/>
          <p:nvPr/>
        </p:nvSpPr>
        <p:spPr>
          <a:xfrm>
            <a:off x="6391656" y="249631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22"/>
          <p:cNvSpPr/>
          <p:nvPr/>
        </p:nvSpPr>
        <p:spPr>
          <a:xfrm>
            <a:off x="6812280" y="2331720"/>
            <a:ext cx="4556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9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telegram · korean-mountain-hiking-bot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934456" y="2990088"/>
            <a:ext cx="537941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00" b="1" dirty="0">
                <a:solidFill>
                  <a:srgbClr val="4FD39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python bot.py --listen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8FA69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봇 대기 중 · long-poll 연결됨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800" dirty="0">
                <a:solidFill>
                  <a:srgbClr val="8FA69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b="1" dirty="0">
                <a:solidFill>
                  <a:srgbClr val="EAF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나  ▸  설악산 이번주 토요일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600" dirty="0">
                <a:solidFill>
                  <a:srgbClr val="8FA69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b="1" dirty="0">
                <a:solidFill>
                  <a:srgbClr val="4FD39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봇  ▸  </a:t>
            </a:r>
            <a:pPr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EAF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설악산 · 강원 · 1,708m · 100대 #50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8FA69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대청봉(오색) 5km · 4~5h · 상급 ★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2E4B3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────────────────────────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EAF3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7/4(토) 맑음 · 15~22℃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150" b="1" dirty="0">
                <a:solidFill>
                  <a:srgbClr val="4FD39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강수확률 0% · 등산 최적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E2E8E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봇 실행: --listen(즉시) · --once(cron) · launchd 상시 · 토큰은 config/env로 분리 (저장소 미커밋)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722815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9E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pPr algn="r" indent="0" marL="0">
              <a:buNone/>
            </a:pPr>
            <a:r>
              <a:rPr lang="en-US" sz="900" dirty="0">
                <a:solidFill>
                  <a:srgbClr val="7E8C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/ 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korean-mountain-hiking</dc:title>
  <dc:subject>PptxGenJS Presentation</dc:subject>
  <dc:creator>Craig</dc:creator>
  <cp:lastModifiedBy>Craig</cp:lastModifiedBy>
  <cp:revision>1</cp:revision>
  <dcterms:created xsi:type="dcterms:W3CDTF">2026-07-01T04:43:23Z</dcterms:created>
  <dcterms:modified xsi:type="dcterms:W3CDTF">2026-07-01T04:43:23Z</dcterms:modified>
</cp:coreProperties>
</file>